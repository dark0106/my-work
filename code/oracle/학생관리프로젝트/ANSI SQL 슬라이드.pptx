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DE7A2-A7EE-4196-8BA3-F3DA0655AFA4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D1AD6-69EB-49D3-B65B-C81595F09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86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32FA7-355B-464F-230B-20B10BFB4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C6FBC-76BD-B359-EE79-54C0B38B7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7DF10-42F3-E029-F83F-B4BC80EA7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BA066-DF3D-BBCC-ECB5-868153A82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3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1F80D-0314-E9F0-F1D3-414688BEB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6A6053-E7AB-B88C-DB0F-31E53B4D1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DA9C7-38C1-558D-D214-A683C2B6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3552E-C184-1F36-314E-230CB1F25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5E1580-6444-9368-C81B-994F57EE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78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9CA67-AE0C-3E3D-9CEA-FB8E530F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79AC2-7206-6C96-2417-951908F44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0CEA9-D21C-D8E6-1ED6-357FC553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67F606-4A8D-CCA2-C425-BF88DAE7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7B2538-B042-AA81-A265-7BEBB63D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16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4747E-7623-6FD3-64A6-6A4D1904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98643B-43B7-9B7B-4BB1-C610C2930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2CE1B-5D69-BFEB-B35E-A1248242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9C0FB0-4C50-C796-484A-0108B263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297C5-370E-2A1D-0831-683ABEF8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768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7B7E4-8E38-27C3-0C64-BC59FB844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6A2F26-2E48-CDBA-E999-30D71727E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1AAFD-1739-D1FC-5E51-51669D13F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9C711-7593-8178-C4B3-5A6B3B7F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6E8D59-9417-0259-5044-669CDAE4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FBE5B9-E2EE-0C2C-666B-4ED46097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14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A5AF3-A065-3B73-A4CE-9B52AA58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88A93B-A3D4-099A-C6EB-A48EC73C9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8D78A5-3B01-75E5-4331-1F87B4C51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25730C-1CE4-352D-1641-5276479E9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E74782-E0DD-F004-93BF-638EC924B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D4BE2C-EC16-3804-073F-3B44CB6D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A925F9-B45A-CE47-D00B-0EEDBC9C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1FE22C-491F-7584-5FA5-D7857B5E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82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760AF-B0CB-4E64-2FDD-67A994DA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A091EA-B4B6-497F-CC90-F2C54EE1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313938-9D7F-2701-2F41-D50DE223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AC61D8-0014-25C9-122D-6793F4A5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24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8189AF-E902-D5E2-090F-15844702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77F96E-7651-BD60-F961-36986AE1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6BFE48-4DB5-7F1B-0682-E5E36CDC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3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DD77F-68EA-C4F4-3226-F60B698E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74788-C060-13CE-4BAA-BE771332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FDF855-A364-827E-3343-4EF4DA47C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CD8EBB-A5D3-E55F-819C-9CA50AA9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404AD7-2CDC-A957-D1BE-7942789D2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7E08DF-DB36-685F-70A9-D601546C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8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BEA85-C679-F904-F9D8-C823B57D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9327F1-9666-7608-08A7-408C58A83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8105F5-270A-FDE7-9FA2-11AC06CE3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72007C-FFDA-C2DB-6144-F2E443A5E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06718A-3D8A-2CC6-3A2E-5418DB27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BC1DD5-C17D-475F-5A97-6BCAE122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141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D98E9-B14B-EC80-0BE3-23FEBFC3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E9D9D6-AAE8-9174-465C-731D5F879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FB530-FC36-2DE0-8EFF-3F8D7F89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DB00B-CA74-DB05-6CED-ED2CB60C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DE7890-958F-D3AA-0C36-F4E460F1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8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A2EC50-1958-C0F0-FCCF-A78256CA8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8FA445-CF91-36D6-5844-2ED26C2CF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CC8461-09B0-9689-8296-8B9F7D0F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6B1F95-13CC-DAB3-C1A0-07C9C257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17A40C-DA1B-996B-E8A6-A7D251B5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79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2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F49844-438B-19FD-6F13-37CC793C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15FE6D-8606-B848-B72B-4C0188664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D3495-9E79-2765-AB25-8C1B04347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D2B7C-96F2-485B-9667-103CD201C12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7A232-1DE4-2203-451A-2A9A74EA9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ADA640-64F9-C65D-74E5-27DCC05AD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0873A-1CC8-4B6A-89C6-01A9E3ADEC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57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695B-0A1F-6953-69A4-732F7FCF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709A6B-8B39-5C74-4438-6465455EF8E4}"/>
              </a:ext>
            </a:extLst>
          </p:cNvPr>
          <p:cNvSpPr/>
          <p:nvPr/>
        </p:nvSpPr>
        <p:spPr>
          <a:xfrm>
            <a:off x="661492" y="542925"/>
            <a:ext cx="3759783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8"/>
              </a:lnSpc>
            </a:pPr>
            <a:r>
              <a:rPr lang="en-US" sz="2375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6. 주요 구현 </a:t>
            </a:r>
            <a:r>
              <a:rPr lang="en-US" sz="2375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기능</a:t>
            </a:r>
            <a:r>
              <a:rPr lang="en-US" sz="2375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 (ANSI-</a:t>
            </a:r>
            <a:r>
              <a:rPr lang="en-US" sz="2375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SQl</a:t>
            </a:r>
            <a:r>
              <a:rPr lang="en-US" sz="2375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)</a:t>
            </a:r>
            <a:endParaRPr lang="en-US" sz="2375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2598D7-D89A-62D4-7799-8481333F31EE}"/>
              </a:ext>
            </a:extLst>
          </p:cNvPr>
          <p:cNvSpPr/>
          <p:nvPr/>
        </p:nvSpPr>
        <p:spPr>
          <a:xfrm>
            <a:off x="661492" y="1223268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333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5-1. </a:t>
            </a:r>
            <a:r>
              <a:rPr lang="ko-KR" altLang="en-US" sz="1333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학사 및 근태 관리</a:t>
            </a:r>
            <a:endParaRPr lang="en-US" sz="1333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44DF2D-60CE-6378-CD33-EB7F95CEE36B}"/>
              </a:ext>
            </a:extLst>
          </p:cNvPr>
          <p:cNvSpPr/>
          <p:nvPr/>
        </p:nvSpPr>
        <p:spPr>
          <a:xfrm>
            <a:off x="661492" y="1580456"/>
            <a:ext cx="5250061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특정일 근태 </a:t>
            </a:r>
            <a:r>
              <a:rPr lang="ko-KR" altLang="en-US" sz="1167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이상자</a:t>
            </a: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조회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(SELECT_ATTENDANCE_ISSUE):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Attendance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1167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Attendance_Type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조인하여 특정 날짜에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조퇴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나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병가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상태인 학생과 과정명을 필터링하여 조회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근태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조퇴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통계 집계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(AGGREGATE_EARLY_LEAVE):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학생별 조퇴 횟수를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COUNT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GROUP BY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집계하고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ORDER BY DESC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FETCH FIRST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사용해 가장 조퇴가 잦은 상위 학생 추출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강의실별 과정 일정 확인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(SELECT_COURSE_SCHEDULE):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현재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진행중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이거나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진행예정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 과정의 시작 및 종료일을 강의실 정보와 결합하여 조회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강의실별 과정 일정 확인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(SELECT_COURSE_SCHEDULE):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현재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진행중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이거나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진행예정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 과정의 시작 및 종료일을 강의실 정보와 결합하여 조회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A93BF8-3F15-3517-60A3-7D23462B8EE5}"/>
              </a:ext>
            </a:extLst>
          </p:cNvPr>
          <p:cNvSpPr/>
          <p:nvPr/>
        </p:nvSpPr>
        <p:spPr>
          <a:xfrm>
            <a:off x="661492" y="3877975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333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5-2. View 구현</a:t>
            </a:r>
            <a:endParaRPr lang="en-US" sz="13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93EC5E-31A7-4736-21C6-53B06792DDAF}"/>
              </a:ext>
            </a:extLst>
          </p:cNvPr>
          <p:cNvSpPr/>
          <p:nvPr/>
        </p:nvSpPr>
        <p:spPr>
          <a:xfrm>
            <a:off x="661492" y="4235163"/>
            <a:ext cx="5250061" cy="174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취업 성공 수당 미수령자 식별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(FIND_UNPAID_ALLOWANCE):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취업에 성공했으나 수당 신청 기록이 없거나 지급이 완료되지 않은 수료생을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LEFT JOIN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IS NULL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조건을 통해 선별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과정별 취업 현황 통계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(STATS_EMPLOYMENT_RATE):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과정별 전체 수강 인원과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CASE WHEN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구문을 활용한 취업 성공 인원을 각각 산출하여 과정별 성과 분석 데이터 제공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en-US" altLang="ko-KR" sz="1167" b="1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학생</a:t>
            </a:r>
            <a:r>
              <a:rPr lang="en-US" altLang="ko-KR" sz="1167" b="1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67" b="1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성적</a:t>
            </a:r>
            <a:r>
              <a:rPr lang="en-US" altLang="ko-KR" sz="1167" b="1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뷰 (</a:t>
            </a:r>
            <a:r>
              <a:rPr lang="en-US" altLang="ko-KR" sz="1167" b="1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vw_student_score</a:t>
            </a:r>
            <a:r>
              <a:rPr lang="en-US" altLang="ko-KR" sz="1167" b="1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):</a:t>
            </a:r>
            <a:r>
              <a:rPr lang="en-US" altLang="ko-KR" sz="1167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67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학생별</a:t>
            </a:r>
            <a:r>
              <a:rPr lang="en-US" altLang="ko-KR" sz="1167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, </a:t>
            </a:r>
            <a:r>
              <a:rPr lang="en-US" altLang="ko-KR" sz="1167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과목별</a:t>
            </a:r>
            <a:r>
              <a:rPr lang="en-US" altLang="ko-KR" sz="1167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, </a:t>
            </a:r>
            <a:r>
              <a:rPr lang="en-US" altLang="ko-KR" sz="1167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시험</a:t>
            </a:r>
            <a:r>
              <a:rPr lang="en-US" altLang="ko-KR" sz="1167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67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유형별</a:t>
            </a:r>
            <a:r>
              <a:rPr lang="en-US" altLang="ko-KR" sz="1167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67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점수</a:t>
            </a:r>
            <a:r>
              <a:rPr lang="en-US" altLang="ko-KR" sz="1167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67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통합</a:t>
            </a:r>
            <a:r>
              <a:rPr lang="en-US" altLang="ko-KR" sz="1167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 </a:t>
            </a:r>
            <a:r>
              <a:rPr lang="en-US" altLang="ko-KR" sz="1167" dirty="0" err="1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조회</a:t>
            </a:r>
            <a:r>
              <a:rPr lang="en-US" altLang="ko-KR" sz="1167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 pitchFamily="34" charset="-120"/>
              </a:rPr>
              <a:t>.</a:t>
            </a:r>
            <a:endParaRPr lang="en-US" altLang="ko-KR" sz="116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훈련지원금 지급 내역 조회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(SELECT_TRAINING_PAYMENT):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특정 기간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(BETWEEN) 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내에 훈련지원금이 지급된 학생의 명단과 지급액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지급일자를 조회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en-US" sz="1167" dirty="0"/>
              <a:t>   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EEAEA1F-7BE8-4814-15FB-3CE7F4EA60C0}"/>
              </a:ext>
            </a:extLst>
          </p:cNvPr>
          <p:cNvSpPr/>
          <p:nvPr/>
        </p:nvSpPr>
        <p:spPr>
          <a:xfrm>
            <a:off x="6280447" y="1223268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333" dirty="0">
                <a:solidFill>
                  <a:srgbClr val="16161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DM Sans Medium" pitchFamily="34" charset="-120"/>
              </a:rPr>
              <a:t>5-3. </a:t>
            </a:r>
            <a:r>
              <a:rPr lang="ko-KR" altLang="en-US" sz="1333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성적 및 평가 분석 </a:t>
            </a:r>
            <a:r>
              <a:rPr lang="en-US" altLang="ko-KR" sz="1333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s-ES" altLang="ko-KR" sz="1333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Evaluation</a:t>
            </a:r>
            <a:r>
              <a:rPr lang="es-ES" altLang="ko-KR" sz="1333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&amp; </a:t>
            </a:r>
            <a:r>
              <a:rPr lang="es-ES" altLang="ko-KR" sz="1333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Grading</a:t>
            </a:r>
            <a:r>
              <a:rPr lang="es-ES" altLang="ko-KR" sz="1333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333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444062A-B917-9B69-9D81-CF4134687ABD}"/>
              </a:ext>
            </a:extLst>
          </p:cNvPr>
          <p:cNvSpPr/>
          <p:nvPr/>
        </p:nvSpPr>
        <p:spPr>
          <a:xfrm>
            <a:off x="6280448" y="1580456"/>
            <a:ext cx="5250061" cy="13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우수 교사 판별 및 평가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(ANALYZE_INSTRUCTOR_RATING):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교사 평가 점수의 평균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(AVG)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9.0 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이상인 교사를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HAVING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절로 필터링하여 우수 강사 리스트 출력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과정 내 최고 </a:t>
            </a:r>
            <a:r>
              <a:rPr lang="ko-KR" altLang="en-US" sz="1167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성적자</a:t>
            </a: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산출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(GET_TOP_SCORER):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67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서브쿼리에서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MAX(</a:t>
            </a:r>
            <a:r>
              <a:rPr lang="en-US" altLang="ko-KR" sz="1167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testgradescore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구하고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이를 메인 쿼리와 비교하여 해당 점수를 받은 학생과 과목 정보를 반환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강의 평가 키워드 검색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(SEARCH_REVIEW_KEYWORD):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LIKE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연산자를 사용하여 강의 평가 내용에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친절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 같은 긍정 키워드가 포함된 리뷰와 작성자 정보 검색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sz="116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463815-B3B8-F87B-3589-E822467E5CF7}"/>
              </a:ext>
            </a:extLst>
          </p:cNvPr>
          <p:cNvSpPr/>
          <p:nvPr/>
        </p:nvSpPr>
        <p:spPr>
          <a:xfrm>
            <a:off x="6280447" y="3877975"/>
            <a:ext cx="189021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altLang="ko-KR" sz="1333" dirty="0">
                <a:latin typeface="Noto Sans KR" panose="020B0200000000000000" pitchFamily="50" charset="-127"/>
                <a:ea typeface="Noto Sans KR" panose="020B0200000000000000" pitchFamily="50" charset="-127"/>
              </a:rPr>
              <a:t>5-4. </a:t>
            </a:r>
            <a:r>
              <a:rPr lang="ko-KR" altLang="en-US" sz="1333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시설 및 자원 관리 </a:t>
            </a:r>
            <a:r>
              <a:rPr lang="en-US" altLang="ko-KR" sz="1333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s-ES" altLang="ko-KR" sz="1333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Facility</a:t>
            </a:r>
            <a:r>
              <a:rPr lang="es-ES" altLang="ko-KR" sz="1333" dirty="0">
                <a:latin typeface="Noto Sans KR" panose="020B0200000000000000" pitchFamily="50" charset="-127"/>
                <a:ea typeface="Noto Sans KR" panose="020B0200000000000000" pitchFamily="50" charset="-127"/>
              </a:rPr>
              <a:t> Management)</a:t>
            </a:r>
            <a:endParaRPr lang="en-US" sz="1458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0E5D095-9DD6-C8DC-AC1A-D5C752E38F82}"/>
              </a:ext>
            </a:extLst>
          </p:cNvPr>
          <p:cNvSpPr/>
          <p:nvPr/>
        </p:nvSpPr>
        <p:spPr>
          <a:xfrm>
            <a:off x="6280448" y="4235163"/>
            <a:ext cx="5250061" cy="239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고장 컴퓨터 현황 파악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(CHECK_BROKEN_PC):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컴퓨터 상태가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고장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또는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수리중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 기기를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연산자로 조회하여 강의실별 유지보수 필요 목록 생성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ko-KR" altLang="en-US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사물함 배정 및 사용 여부 확인 </a:t>
            </a:r>
            <a:r>
              <a:rPr lang="en-US" altLang="ko-KR" sz="11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(CHECK_LOCKER_USAGE):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CASE WHEN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구문을 사용하여 사물함이 배정되었으나 실제 사용되지 않는 상태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('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미사용</a:t>
            </a:r>
            <a:r>
              <a:rPr lang="en-US" altLang="ko-KR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')</a:t>
            </a:r>
            <a:r>
              <a:rPr lang="ko-KR" altLang="en-US" sz="1167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구분하여 효율적인 자원 관리</a:t>
            </a:r>
            <a:endParaRPr lang="en-US" sz="1167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620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와이드스크린</PresentationFormat>
  <Paragraphs>18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Noto Sans KR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윤재 황</dc:creator>
  <cp:lastModifiedBy>윤재 황</cp:lastModifiedBy>
  <cp:revision>1</cp:revision>
  <dcterms:created xsi:type="dcterms:W3CDTF">2026-02-10T06:51:21Z</dcterms:created>
  <dcterms:modified xsi:type="dcterms:W3CDTF">2026-02-10T06:51:55Z</dcterms:modified>
</cp:coreProperties>
</file>