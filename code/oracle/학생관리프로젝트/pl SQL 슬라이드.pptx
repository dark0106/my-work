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"/>
  </p:notesMasterIdLst>
  <p:sldIdLst>
    <p:sldId id="269" r:id="rId2"/>
    <p:sldId id="268" r:id="rId3"/>
    <p:sldId id="270" r:id="rId4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94660"/>
  </p:normalViewPr>
  <p:slideViewPr>
    <p:cSldViewPr snapToGrid="0">
      <p:cViewPr varScale="1">
        <p:scale>
          <a:sx n="107" d="100"/>
          <a:sy n="107" d="100"/>
        </p:scale>
        <p:origin x="69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FDDE7A2-A7EE-4196-8BA3-F3DA0655AFA4}" type="datetimeFigureOut">
              <a:rPr lang="ko-KR" altLang="en-US" smtClean="0"/>
              <a:t>2026-02-10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2FD1AD6-69EB-49D3-B65B-C81595F095B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688651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7018D9-062F-AB5B-3AE0-07E98C5FD0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3ABB930-A662-6466-7539-76177DD1633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5882171-8EFA-B101-B883-77A81D466F5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3C2320A-5523-C43B-77DD-8E1C9A17BC7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9226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5F1F09-89CA-1C7D-D60B-64621555D0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23EEB5A-A4E7-80FC-CF22-B76152C992C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6E3CE95-8CC5-0B58-3925-9C6DE0AF8C0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407576E-C0E1-F190-63FA-2A6D9F3DEF9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527339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23479F-7F06-491E-078A-17C63CB541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2F82127-7E85-BFAC-97D3-5AE0FDF494C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DD4ECA4-1880-CC0D-4FA3-27A416DFB17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000694B-5B33-A0E5-3EA3-BACFDD6B922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756240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E01F80D-0314-E9F0-F1D3-414688BEB30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346A6053-E7AB-B88C-DB0F-31E53B4D178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BEDA9C7-38C1-558D-D214-A683C2B68D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8D2B7C-96F2-485B-9667-103CD201C120}" type="datetimeFigureOut">
              <a:rPr lang="ko-KR" altLang="en-US" smtClean="0"/>
              <a:t>2026-02-10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F73552E-C184-1F36-314E-230CB1F257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A5E1580-6444-9368-C81B-994F57EEEF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90873A-1CC8-4B6A-89C6-01A9E3ADEC9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597801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8E9CA67-AE0C-3E3D-9CEA-FB8E530FDF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5979AC2-7206-6C96-2417-951908F448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420CEA9-D21C-D8E6-1ED6-357FC553D3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8D2B7C-96F2-485B-9667-103CD201C120}" type="datetimeFigureOut">
              <a:rPr lang="ko-KR" altLang="en-US" smtClean="0"/>
              <a:t>2026-02-10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C67F606-4A8D-CCA2-C425-BF88DAE7C7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F7B2538-B042-AA81-A265-7BEBB63DB6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90873A-1CC8-4B6A-89C6-01A9E3ADEC9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021678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D04747E-7623-6FD3-64A6-6A4D19047E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498643B-43B7-9B7B-4BB1-C610C2930E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812CE1B-5D69-BFEB-B35E-A124824248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8D2B7C-96F2-485B-9667-103CD201C120}" type="datetimeFigureOut">
              <a:rPr lang="ko-KR" altLang="en-US" smtClean="0"/>
              <a:t>2026-02-10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09C0FB0-4C50-C796-484A-0108B2636C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28297C5-370E-2A1D-0831-683ABEF84E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90873A-1CC8-4B6A-89C6-01A9E3ADEC9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027687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797B7E4-8E38-27C3-0C64-BC59FB8443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76A2F26-2E48-CDBA-E999-30D71727EE7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24C1AAFD-1739-D1FC-5E51-51669D13F93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1BB9C711-7593-8178-C4B3-5A6B3B7F82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8D2B7C-96F2-485B-9667-103CD201C120}" type="datetimeFigureOut">
              <a:rPr lang="ko-KR" altLang="en-US" smtClean="0"/>
              <a:t>2026-02-10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866E8D59-9417-0259-5044-669CDAE4B4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0AFBE5B9-E2EE-0C2C-666B-4ED4609770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90873A-1CC8-4B6A-89C6-01A9E3ADEC9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011422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27A5AF3-A065-3B73-A4CE-9B52AA58F4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288A93B-A3D4-099A-C6EB-A48EC73C9C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968D78A5-3B01-75E5-4331-1F87B4C5158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E625730C-1CE4-352D-1641-5276479E9B5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7EE74782-E0DD-F004-93BF-638EC924BFF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86D4BE2C-EC16-3804-073F-3B44CB6DB4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8D2B7C-96F2-485B-9667-103CD201C120}" type="datetimeFigureOut">
              <a:rPr lang="ko-KR" altLang="en-US" smtClean="0"/>
              <a:t>2026-02-10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DDA925F9-B45A-CE47-D00B-0EEDBC9CDE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5B1FE22C-491F-7584-5FA5-D7857B5E9A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90873A-1CC8-4B6A-89C6-01A9E3ADEC9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688215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CF760AF-B0CB-4E64-2FDD-67A994DAEB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F4A091EA-B4B6-497F-CC90-F2C54EE17F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8D2B7C-96F2-485B-9667-103CD201C120}" type="datetimeFigureOut">
              <a:rPr lang="ko-KR" altLang="en-US" smtClean="0"/>
              <a:t>2026-02-10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BC313938-9D7F-2701-2F41-D50DE223A8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4FAC61D8-0014-25C9-122D-6793F4A566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90873A-1CC8-4B6A-89C6-01A9E3ADEC9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142444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A58189AF-E902-D5E2-090F-158447020F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8D2B7C-96F2-485B-9667-103CD201C120}" type="datetimeFigureOut">
              <a:rPr lang="ko-KR" altLang="en-US" smtClean="0"/>
              <a:t>2026-02-10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B877F96E-7651-BD60-F961-36986AE185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E6BFE48-4DB5-7F1B-0682-E5E36CDC40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90873A-1CC8-4B6A-89C6-01A9E3ADEC9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041300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DBDD77F-68EA-C4F4-3226-F60B698E2A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6974788-C060-13CE-4BAA-BE771332BB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C8FDF855-A364-827E-3343-4EF4DA47CEA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76CD8EBB-A5D3-E55F-819C-9CA50AA957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8D2B7C-96F2-485B-9667-103CD201C120}" type="datetimeFigureOut">
              <a:rPr lang="ko-KR" altLang="en-US" smtClean="0"/>
              <a:t>2026-02-10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40404AD7-2CDC-A957-D1BE-7942789D2A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307E08DF-DB36-685F-70A9-D601546C15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90873A-1CC8-4B6A-89C6-01A9E3ADEC9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947828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48BEA85-C679-F904-F9D8-C823B57D2F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029327F1-9666-7608-08A7-408C58A83E5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068105F5-270A-FDE7-9FA2-11AC06CE31E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3172007C-FFDA-C2DB-6144-F2E443A5E1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8D2B7C-96F2-485B-9667-103CD201C120}" type="datetimeFigureOut">
              <a:rPr lang="ko-KR" altLang="en-US" smtClean="0"/>
              <a:t>2026-02-10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D806718A-3D8A-2CC6-3A2E-5418DB2733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5EBC1DD5-C17D-475F-5A97-6BCAE1222F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90873A-1CC8-4B6A-89C6-01A9E3ADEC9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541415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CDD98E9-B14B-EC80-0BE3-23FEBFC3FE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BBE9D9D6-AAE8-9174-465C-731D5F87968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A2FB530-FC36-2DE0-8EFF-3F8D7F89B3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8D2B7C-96F2-485B-9667-103CD201C120}" type="datetimeFigureOut">
              <a:rPr lang="ko-KR" altLang="en-US" smtClean="0"/>
              <a:t>2026-02-10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9FDB00B-CA74-DB05-6CED-ED2CB60C99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8DE7890-958F-D3AA-0C36-F4E460F1A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90873A-1CC8-4B6A-89C6-01A9E3ADEC9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304800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84A2EC50-1958-C0F0-FCCF-A78256CA8C1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458FA445-CF91-36D6-5844-2ED26C2CF2E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FCC8461-09B0-9689-8296-8B9F7D0F65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8D2B7C-96F2-485B-9667-103CD201C120}" type="datetimeFigureOut">
              <a:rPr lang="ko-KR" altLang="en-US" smtClean="0"/>
              <a:t>2026-02-10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86B1F95-13CC-DAB3-C1A0-07C9C25758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E17A40C-DA1B-996B-E8A6-A7D251B5D7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90873A-1CC8-4B6A-89C6-01A9E3ADEC9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1679937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6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6E2D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9F8F5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99346" y="6457950"/>
            <a:ext cx="1435504" cy="342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32283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97F49844-438B-19FD-6F13-37CC793C2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415FE6D-8606-B848-B72B-4C0188664F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4ED3495-9E79-2765-AB25-8C1B04347E5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48D2B7C-96F2-485B-9667-103CD201C120}" type="datetimeFigureOut">
              <a:rPr lang="ko-KR" altLang="en-US" smtClean="0"/>
              <a:t>2026-02-10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C27A232-1DE4-2203-451A-2A9A74EA982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0ADA640-64F9-C65D-74E5-27DCC05AD11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990873A-1CC8-4B6A-89C6-01A9E3ADEC9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425747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24F1FC-9F0B-D225-9172-F0DA6B0416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4D20F857-D91F-5BAC-8765-93784641F446}"/>
              </a:ext>
            </a:extLst>
          </p:cNvPr>
          <p:cNvSpPr/>
          <p:nvPr/>
        </p:nvSpPr>
        <p:spPr>
          <a:xfrm>
            <a:off x="661492" y="542925"/>
            <a:ext cx="3498156" cy="3780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958"/>
              </a:lnSpc>
            </a:pPr>
            <a:r>
              <a:rPr lang="en-US" sz="2375" dirty="0">
                <a:solidFill>
                  <a:srgbClr val="161613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DM Sans Medium" pitchFamily="34" charset="-120"/>
              </a:rPr>
              <a:t>5. 주요 구현 기능 (PL/SQL)</a:t>
            </a:r>
            <a:endParaRPr lang="en-US" sz="2375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631DC569-0309-928B-B1B9-706313DFE846}"/>
              </a:ext>
            </a:extLst>
          </p:cNvPr>
          <p:cNvSpPr/>
          <p:nvPr/>
        </p:nvSpPr>
        <p:spPr>
          <a:xfrm>
            <a:off x="661492" y="1037534"/>
            <a:ext cx="5250061" cy="607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ko-KR" altLang="en-US" sz="1167" b="1" dirty="0">
                <a:latin typeface="+mn-ea"/>
              </a:rPr>
              <a:t>장기 근속</a:t>
            </a:r>
            <a:r>
              <a:rPr lang="en-US" altLang="ko-KR" sz="1167" b="1" dirty="0">
                <a:latin typeface="+mn-ea"/>
              </a:rPr>
              <a:t>(6</a:t>
            </a:r>
            <a:r>
              <a:rPr lang="ko-KR" altLang="en-US" sz="1167" b="1" dirty="0">
                <a:latin typeface="+mn-ea"/>
              </a:rPr>
              <a:t>개월</a:t>
            </a:r>
            <a:r>
              <a:rPr lang="en-US" altLang="ko-KR" sz="1167" b="1" dirty="0">
                <a:latin typeface="+mn-ea"/>
              </a:rPr>
              <a:t>) </a:t>
            </a:r>
            <a:r>
              <a:rPr lang="ko-KR" altLang="en-US" sz="1167" b="1" dirty="0">
                <a:latin typeface="+mn-ea"/>
              </a:rPr>
              <a:t>수당 지급 대상자 자동 판별</a:t>
            </a:r>
            <a:endParaRPr lang="en-US" altLang="ko-KR" sz="1167" b="1" dirty="0">
              <a:latin typeface="+mn-ea"/>
            </a:endParaRPr>
          </a:p>
          <a:p>
            <a:endParaRPr lang="ko-KR" altLang="en-US" sz="1167" dirty="0">
              <a:latin typeface="+mn-ea"/>
            </a:endParaRPr>
          </a:p>
          <a:p>
            <a:r>
              <a:rPr lang="ko-KR" altLang="en-US" sz="1167" b="1" dirty="0">
                <a:latin typeface="+mn-ea"/>
              </a:rPr>
              <a:t>구현 목적</a:t>
            </a:r>
            <a:endParaRPr lang="ko-KR" altLang="en-US" sz="1167" dirty="0">
              <a:latin typeface="+mn-ea"/>
            </a:endParaRPr>
          </a:p>
          <a:p>
            <a:pPr lvl="1"/>
            <a:r>
              <a:rPr lang="ko-KR" altLang="en-US" sz="1167" dirty="0">
                <a:latin typeface="+mn-ea"/>
              </a:rPr>
              <a:t>수료 후 </a:t>
            </a:r>
            <a:r>
              <a:rPr lang="en-US" altLang="ko-KR" sz="1167" dirty="0">
                <a:latin typeface="+mn-ea"/>
              </a:rPr>
              <a:t>6</a:t>
            </a:r>
            <a:r>
              <a:rPr lang="ko-KR" altLang="en-US" sz="1167" dirty="0">
                <a:latin typeface="+mn-ea"/>
              </a:rPr>
              <a:t>개월이 경과한 시점까지 취업 상태를 유지한 인원 중</a:t>
            </a:r>
            <a:r>
              <a:rPr lang="en-US" altLang="ko-KR" sz="1167" dirty="0">
                <a:latin typeface="+mn-ea"/>
              </a:rPr>
              <a:t>, </a:t>
            </a:r>
            <a:r>
              <a:rPr lang="ko-KR" altLang="en-US" sz="1167" dirty="0">
                <a:latin typeface="+mn-ea"/>
              </a:rPr>
              <a:t>수당 미지급자 식별</a:t>
            </a:r>
          </a:p>
          <a:p>
            <a:r>
              <a:rPr lang="ko-KR" altLang="en-US" sz="1167" b="1" dirty="0">
                <a:latin typeface="+mn-ea"/>
              </a:rPr>
              <a:t>핵심 로직 </a:t>
            </a:r>
            <a:r>
              <a:rPr lang="en-US" altLang="ko-KR" sz="1167" b="1" dirty="0">
                <a:latin typeface="+mn-ea"/>
              </a:rPr>
              <a:t>(4-Step </a:t>
            </a:r>
            <a:r>
              <a:rPr lang="ko-KR" altLang="en-US" sz="1167" b="1" dirty="0">
                <a:latin typeface="+mn-ea"/>
              </a:rPr>
              <a:t>검증</a:t>
            </a:r>
            <a:r>
              <a:rPr lang="en-US" altLang="ko-KR" sz="1167" b="1" dirty="0">
                <a:latin typeface="+mn-ea"/>
              </a:rPr>
              <a:t>)</a:t>
            </a:r>
            <a:endParaRPr lang="ko-KR" altLang="en-US" sz="1167" dirty="0">
              <a:latin typeface="+mn-ea"/>
            </a:endParaRPr>
          </a:p>
          <a:p>
            <a:pPr lvl="1"/>
            <a:r>
              <a:rPr lang="ko-KR" altLang="en-US" sz="1167" b="1" dirty="0">
                <a:latin typeface="+mn-ea"/>
              </a:rPr>
              <a:t>자격</a:t>
            </a:r>
            <a:r>
              <a:rPr lang="en-US" altLang="ko-KR" sz="1167" b="1" dirty="0">
                <a:latin typeface="+mn-ea"/>
              </a:rPr>
              <a:t>:</a:t>
            </a:r>
            <a:r>
              <a:rPr lang="ko-KR" altLang="en-US" sz="1167" dirty="0">
                <a:latin typeface="+mn-ea"/>
              </a:rPr>
              <a:t> 수강완료 및 취업성공 상태 확인</a:t>
            </a:r>
          </a:p>
          <a:p>
            <a:pPr lvl="1"/>
            <a:r>
              <a:rPr lang="ko-KR" altLang="en-US" sz="1167" b="1" dirty="0">
                <a:latin typeface="+mn-ea"/>
              </a:rPr>
              <a:t>기간</a:t>
            </a:r>
            <a:r>
              <a:rPr lang="en-US" altLang="ko-KR" sz="1167" b="1" dirty="0">
                <a:latin typeface="+mn-ea"/>
              </a:rPr>
              <a:t>:</a:t>
            </a:r>
            <a:r>
              <a:rPr lang="ko-KR" altLang="en-US" sz="1167" dirty="0">
                <a:latin typeface="+mn-ea"/>
              </a:rPr>
              <a:t> 수료일로부터 </a:t>
            </a:r>
            <a:r>
              <a:rPr lang="en-US" altLang="ko-KR" sz="1167" dirty="0">
                <a:latin typeface="+mn-ea"/>
              </a:rPr>
              <a:t>6</a:t>
            </a:r>
            <a:r>
              <a:rPr lang="ko-KR" altLang="en-US" sz="1167" dirty="0">
                <a:latin typeface="+mn-ea"/>
              </a:rPr>
              <a:t>개월 경과 </a:t>
            </a:r>
            <a:r>
              <a:rPr lang="en-US" altLang="ko-KR" sz="1167" dirty="0">
                <a:latin typeface="+mn-ea"/>
              </a:rPr>
              <a:t>(ADD_MONTHS(SYSDATE, -6)</a:t>
            </a:r>
            <a:r>
              <a:rPr lang="ko-KR" altLang="en-US" sz="1167" dirty="0">
                <a:latin typeface="+mn-ea"/>
              </a:rPr>
              <a:t> 조건 충족</a:t>
            </a:r>
            <a:r>
              <a:rPr lang="en-US" altLang="ko-KR" sz="1167" dirty="0">
                <a:latin typeface="+mn-ea"/>
              </a:rPr>
              <a:t>)</a:t>
            </a:r>
          </a:p>
          <a:p>
            <a:pPr lvl="1"/>
            <a:r>
              <a:rPr lang="ko-KR" altLang="en-US" sz="1167" b="1" dirty="0">
                <a:latin typeface="+mn-ea"/>
              </a:rPr>
              <a:t>지급 여부</a:t>
            </a:r>
            <a:r>
              <a:rPr lang="en-US" altLang="ko-KR" sz="1167" b="1" dirty="0">
                <a:latin typeface="+mn-ea"/>
              </a:rPr>
              <a:t>:</a:t>
            </a:r>
            <a:r>
              <a:rPr lang="ko-KR" altLang="en-US" sz="1167" dirty="0">
                <a:latin typeface="+mn-ea"/>
              </a:rPr>
              <a:t> </a:t>
            </a:r>
            <a:r>
              <a:rPr lang="ko-KR" altLang="en-US" sz="1167" dirty="0" err="1">
                <a:latin typeface="+mn-ea"/>
              </a:rPr>
              <a:t>미신청</a:t>
            </a:r>
            <a:r>
              <a:rPr lang="en-US" altLang="ko-KR" sz="1167" dirty="0">
                <a:latin typeface="+mn-ea"/>
              </a:rPr>
              <a:t>(NULL)</a:t>
            </a:r>
            <a:r>
              <a:rPr lang="ko-KR" altLang="en-US" sz="1167" dirty="0">
                <a:latin typeface="+mn-ea"/>
              </a:rPr>
              <a:t>이거나 아직 지급되지 않은</a:t>
            </a:r>
            <a:r>
              <a:rPr lang="en-US" altLang="ko-KR" sz="1167" dirty="0">
                <a:latin typeface="+mn-ea"/>
              </a:rPr>
              <a:t>(!= </a:t>
            </a:r>
            <a:r>
              <a:rPr lang="ko-KR" altLang="en-US" sz="1167" dirty="0">
                <a:latin typeface="+mn-ea"/>
              </a:rPr>
              <a:t>지급완료</a:t>
            </a:r>
            <a:r>
              <a:rPr lang="en-US" altLang="ko-KR" sz="1167" dirty="0">
                <a:latin typeface="+mn-ea"/>
              </a:rPr>
              <a:t>) </a:t>
            </a:r>
            <a:r>
              <a:rPr lang="ko-KR" altLang="en-US" sz="1167" dirty="0">
                <a:latin typeface="+mn-ea"/>
              </a:rPr>
              <a:t>상태 필터링</a:t>
            </a:r>
          </a:p>
          <a:p>
            <a:r>
              <a:rPr lang="ko-KR" altLang="en-US" sz="1167" b="1" dirty="0">
                <a:latin typeface="+mn-ea"/>
              </a:rPr>
              <a:t>기술적 특징</a:t>
            </a:r>
            <a:endParaRPr lang="ko-KR" altLang="en-US" sz="1167" dirty="0">
              <a:latin typeface="+mn-ea"/>
            </a:endParaRPr>
          </a:p>
          <a:p>
            <a:pPr lvl="1"/>
            <a:r>
              <a:rPr lang="en-US" altLang="ko-KR" sz="1167" b="1" dirty="0">
                <a:latin typeface="+mn-ea"/>
              </a:rPr>
              <a:t>LEFT JOIN</a:t>
            </a:r>
            <a:r>
              <a:rPr lang="ko-KR" altLang="en-US" sz="1167" b="1" dirty="0">
                <a:latin typeface="+mn-ea"/>
              </a:rPr>
              <a:t> 활용</a:t>
            </a:r>
            <a:r>
              <a:rPr lang="en-US" altLang="ko-KR" sz="1167" b="1" dirty="0">
                <a:latin typeface="+mn-ea"/>
              </a:rPr>
              <a:t>:</a:t>
            </a:r>
            <a:r>
              <a:rPr lang="ko-KR" altLang="en-US" sz="1167" dirty="0">
                <a:latin typeface="+mn-ea"/>
              </a:rPr>
              <a:t> 수당 신청 이력이 없는</a:t>
            </a:r>
            <a:r>
              <a:rPr lang="en-US" altLang="ko-KR" sz="1167" dirty="0">
                <a:latin typeface="+mn-ea"/>
              </a:rPr>
              <a:t>(</a:t>
            </a:r>
            <a:r>
              <a:rPr lang="ko-KR" altLang="en-US" sz="1167" dirty="0">
                <a:latin typeface="+mn-ea"/>
              </a:rPr>
              <a:t>데이터가 </a:t>
            </a:r>
            <a:r>
              <a:rPr lang="en-US" altLang="ko-KR" sz="1167" dirty="0">
                <a:latin typeface="+mn-ea"/>
              </a:rPr>
              <a:t>NULL</a:t>
            </a:r>
            <a:r>
              <a:rPr lang="ko-KR" altLang="en-US" sz="1167" dirty="0">
                <a:latin typeface="+mn-ea"/>
              </a:rPr>
              <a:t>인</a:t>
            </a:r>
            <a:r>
              <a:rPr lang="en-US" altLang="ko-KR" sz="1167" dirty="0">
                <a:latin typeface="+mn-ea"/>
              </a:rPr>
              <a:t>) </a:t>
            </a:r>
            <a:r>
              <a:rPr lang="ko-KR" altLang="en-US" sz="1167" dirty="0">
                <a:latin typeface="+mn-ea"/>
              </a:rPr>
              <a:t>학생도 누락 없이 조회 가능하도록 설계</a:t>
            </a:r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F37A1DCB-E64A-2D9A-D438-B42E126FBFCC}"/>
              </a:ext>
            </a:extLst>
          </p:cNvPr>
          <p:cNvSpPr/>
          <p:nvPr/>
        </p:nvSpPr>
        <p:spPr>
          <a:xfrm>
            <a:off x="661492" y="3794831"/>
            <a:ext cx="1890217" cy="2362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833"/>
              </a:lnSpc>
            </a:pPr>
            <a:endParaRPr lang="en-US" sz="1458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8C96AC2D-7022-9FEF-AFF4-2846756F589A}"/>
              </a:ext>
            </a:extLst>
          </p:cNvPr>
          <p:cNvSpPr/>
          <p:nvPr/>
        </p:nvSpPr>
        <p:spPr>
          <a:xfrm>
            <a:off x="661492" y="4152019"/>
            <a:ext cx="5250061" cy="17420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39" indent="-285739">
              <a:lnSpc>
                <a:spcPts val="1708"/>
              </a:lnSpc>
              <a:buSzPct val="100000"/>
              <a:buChar char="•"/>
            </a:pPr>
            <a:endParaRPr lang="en-US" sz="1167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E5919613-64ED-CEB2-47F5-2B0275122C1E}"/>
              </a:ext>
            </a:extLst>
          </p:cNvPr>
          <p:cNvSpPr/>
          <p:nvPr/>
        </p:nvSpPr>
        <p:spPr>
          <a:xfrm>
            <a:off x="6286797" y="1223268"/>
            <a:ext cx="1890217" cy="2362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833"/>
              </a:lnSpc>
            </a:pPr>
            <a:endParaRPr lang="en-US" sz="1458" dirty="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CE210E76-25AF-1867-0968-584E6013D44C}"/>
              </a:ext>
            </a:extLst>
          </p:cNvPr>
          <p:cNvSpPr/>
          <p:nvPr/>
        </p:nvSpPr>
        <p:spPr>
          <a:xfrm>
            <a:off x="6286798" y="1580456"/>
            <a:ext cx="5250061" cy="13065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708"/>
              </a:lnSpc>
              <a:buSzPct val="100000"/>
            </a:pPr>
            <a:endParaRPr lang="en-US" sz="1167" dirty="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464992B9-8950-7A66-50D2-CACB61C0C999}"/>
              </a:ext>
            </a:extLst>
          </p:cNvPr>
          <p:cNvSpPr/>
          <p:nvPr/>
        </p:nvSpPr>
        <p:spPr>
          <a:xfrm>
            <a:off x="6286797" y="3007933"/>
            <a:ext cx="1890217" cy="2362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833"/>
              </a:lnSpc>
            </a:pPr>
            <a:endParaRPr lang="en-US" sz="1458" dirty="0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21BCD54D-E1FD-B8A2-969A-DC406E251A7E}"/>
              </a:ext>
            </a:extLst>
          </p:cNvPr>
          <p:cNvSpPr/>
          <p:nvPr/>
        </p:nvSpPr>
        <p:spPr>
          <a:xfrm>
            <a:off x="6286798" y="3365120"/>
            <a:ext cx="5250061" cy="23953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39" indent="-285739">
              <a:lnSpc>
                <a:spcPts val="1708"/>
              </a:lnSpc>
              <a:buSzPct val="100000"/>
              <a:buChar char="•"/>
            </a:pPr>
            <a:endParaRPr lang="en-US" sz="1167" dirty="0"/>
          </a:p>
        </p:txBody>
      </p:sp>
      <p:pic>
        <p:nvPicPr>
          <p:cNvPr id="14" name="그림 13" descr="텍스트, 스크린샷이(가) 표시된 사진">
            <a:extLst>
              <a:ext uri="{FF2B5EF4-FFF2-40B4-BE49-F238E27FC236}">
                <a16:creationId xmlns:a16="http://schemas.microsoft.com/office/drawing/2014/main" id="{09797B04-E913-689D-5383-85CEE6D0F97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1037534"/>
            <a:ext cx="5875121" cy="54508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020951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53A0EC-5836-038A-4388-D55A6EDEAA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9FD63482-36D9-C862-212F-39272AD7EF42}"/>
              </a:ext>
            </a:extLst>
          </p:cNvPr>
          <p:cNvSpPr/>
          <p:nvPr/>
        </p:nvSpPr>
        <p:spPr>
          <a:xfrm>
            <a:off x="661492" y="542925"/>
            <a:ext cx="3498156" cy="3780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958"/>
              </a:lnSpc>
            </a:pPr>
            <a:r>
              <a:rPr lang="en-US" sz="2375" dirty="0">
                <a:solidFill>
                  <a:srgbClr val="161613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DM Sans Medium" pitchFamily="34" charset="-120"/>
              </a:rPr>
              <a:t>5. 주요 구현 기능 (PL/SQL)</a:t>
            </a:r>
            <a:endParaRPr lang="en-US" sz="2375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1373B4FD-6967-DEED-8229-4A93BEA28C2D}"/>
              </a:ext>
            </a:extLst>
          </p:cNvPr>
          <p:cNvSpPr/>
          <p:nvPr/>
        </p:nvSpPr>
        <p:spPr>
          <a:xfrm>
            <a:off x="661492" y="1037534"/>
            <a:ext cx="5250061" cy="607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ko-KR" altLang="en-US" sz="1167" b="1" dirty="0">
                <a:latin typeface="+mn-ea"/>
              </a:rPr>
              <a:t>훈련지원금 신청 대상자 실시간 조회</a:t>
            </a:r>
            <a:endParaRPr lang="en-US" altLang="ko-KR" sz="1167" b="1" dirty="0">
              <a:latin typeface="+mn-ea"/>
            </a:endParaRPr>
          </a:p>
          <a:p>
            <a:endParaRPr lang="ko-KR" altLang="en-US" sz="1167" dirty="0">
              <a:latin typeface="+mn-ea"/>
            </a:endParaRPr>
          </a:p>
          <a:p>
            <a:r>
              <a:rPr lang="ko-KR" altLang="en-US" sz="1167" b="1" dirty="0">
                <a:latin typeface="+mn-ea"/>
              </a:rPr>
              <a:t>구현 목적</a:t>
            </a:r>
            <a:endParaRPr lang="ko-KR" altLang="en-US" sz="1167" dirty="0">
              <a:latin typeface="+mn-ea"/>
            </a:endParaRPr>
          </a:p>
          <a:p>
            <a:pPr lvl="1"/>
            <a:r>
              <a:rPr lang="ko-KR" altLang="en-US" sz="1167" dirty="0">
                <a:latin typeface="+mn-ea"/>
              </a:rPr>
              <a:t>현재 수강 중인 학생 중 지원금 </a:t>
            </a:r>
            <a:r>
              <a:rPr lang="ko-KR" altLang="en-US" sz="1167" dirty="0" err="1">
                <a:latin typeface="+mn-ea"/>
              </a:rPr>
              <a:t>미신청</a:t>
            </a:r>
            <a:r>
              <a:rPr lang="ko-KR" altLang="en-US" sz="1167" dirty="0">
                <a:latin typeface="+mn-ea"/>
              </a:rPr>
              <a:t> 인원을 식별하여 신청 유도</a:t>
            </a:r>
          </a:p>
          <a:p>
            <a:r>
              <a:rPr lang="ko-KR" altLang="en-US" sz="1167" b="1" dirty="0">
                <a:latin typeface="+mn-ea"/>
              </a:rPr>
              <a:t>주요 로직</a:t>
            </a:r>
            <a:endParaRPr lang="ko-KR" altLang="en-US" sz="1167" dirty="0">
              <a:latin typeface="+mn-ea"/>
            </a:endParaRPr>
          </a:p>
          <a:p>
            <a:pPr lvl="1"/>
            <a:r>
              <a:rPr lang="ko-KR" altLang="en-US" sz="1167" b="1" dirty="0">
                <a:latin typeface="+mn-ea"/>
              </a:rPr>
              <a:t>기간 유효성 체크</a:t>
            </a:r>
            <a:r>
              <a:rPr lang="en-US" altLang="ko-KR" sz="1167" b="1" dirty="0">
                <a:latin typeface="+mn-ea"/>
              </a:rPr>
              <a:t>:</a:t>
            </a:r>
            <a:r>
              <a:rPr lang="ko-KR" altLang="en-US" sz="1167" dirty="0">
                <a:latin typeface="+mn-ea"/>
              </a:rPr>
              <a:t> </a:t>
            </a:r>
            <a:r>
              <a:rPr lang="en-US" altLang="ko-KR" sz="1167" dirty="0">
                <a:latin typeface="+mn-ea"/>
              </a:rPr>
              <a:t>TRUNC(SYSDATE)</a:t>
            </a:r>
            <a:r>
              <a:rPr lang="ko-KR" altLang="en-US" sz="1167" dirty="0">
                <a:latin typeface="+mn-ea"/>
              </a:rPr>
              <a:t>를 활용하여 현재 과정이 진행 중인 학생만 조회</a:t>
            </a:r>
          </a:p>
          <a:p>
            <a:pPr lvl="1"/>
            <a:r>
              <a:rPr lang="ko-KR" altLang="en-US" sz="1167" b="1" dirty="0">
                <a:latin typeface="+mn-ea"/>
              </a:rPr>
              <a:t>중복 신청 방지</a:t>
            </a:r>
            <a:r>
              <a:rPr lang="en-US" altLang="ko-KR" sz="1167" b="1" dirty="0">
                <a:latin typeface="+mn-ea"/>
              </a:rPr>
              <a:t>:</a:t>
            </a:r>
            <a:r>
              <a:rPr lang="ko-KR" altLang="en-US" sz="1167" dirty="0">
                <a:latin typeface="+mn-ea"/>
              </a:rPr>
              <a:t> </a:t>
            </a:r>
            <a:r>
              <a:rPr lang="en-US" altLang="ko-KR" sz="1167" dirty="0">
                <a:latin typeface="+mn-ea"/>
              </a:rPr>
              <a:t>NOT EXISTS</a:t>
            </a:r>
            <a:r>
              <a:rPr lang="ko-KR" altLang="en-US" sz="1167" dirty="0">
                <a:latin typeface="+mn-ea"/>
              </a:rPr>
              <a:t>절을 사용하여 이미 신청 내역이 있는 학생은 결과에서 제외</a:t>
            </a:r>
          </a:p>
          <a:p>
            <a:r>
              <a:rPr lang="ko-KR" altLang="en-US" sz="1167" b="1" dirty="0">
                <a:latin typeface="+mn-ea"/>
              </a:rPr>
              <a:t>기술적 특징</a:t>
            </a:r>
            <a:endParaRPr lang="ko-KR" altLang="en-US" sz="1167" dirty="0">
              <a:latin typeface="+mn-ea"/>
            </a:endParaRPr>
          </a:p>
          <a:p>
            <a:pPr lvl="1"/>
            <a:r>
              <a:rPr lang="en-US" altLang="ko-KR" sz="1167" b="1" dirty="0">
                <a:latin typeface="+mn-ea"/>
              </a:rPr>
              <a:t>SYS_REFCURSOR</a:t>
            </a:r>
            <a:r>
              <a:rPr lang="ko-KR" altLang="en-US" sz="1167" b="1" dirty="0">
                <a:latin typeface="+mn-ea"/>
              </a:rPr>
              <a:t> 반환</a:t>
            </a:r>
            <a:r>
              <a:rPr lang="en-US" altLang="ko-KR" sz="1167" b="1" dirty="0">
                <a:latin typeface="+mn-ea"/>
              </a:rPr>
              <a:t>:</a:t>
            </a:r>
            <a:r>
              <a:rPr lang="ko-KR" altLang="en-US" sz="1167" dirty="0">
                <a:latin typeface="+mn-ea"/>
              </a:rPr>
              <a:t> 다중 행</a:t>
            </a:r>
            <a:r>
              <a:rPr lang="en-US" altLang="ko-KR" sz="1167" dirty="0">
                <a:latin typeface="+mn-ea"/>
              </a:rPr>
              <a:t>(Multi-row) </a:t>
            </a:r>
            <a:r>
              <a:rPr lang="ko-KR" altLang="en-US" sz="1167" dirty="0">
                <a:latin typeface="+mn-ea"/>
              </a:rPr>
              <a:t>결과를 유연하게 반환하여 </a:t>
            </a:r>
            <a:r>
              <a:rPr lang="en-US" altLang="ko-KR" sz="1167" dirty="0">
                <a:latin typeface="+mn-ea"/>
              </a:rPr>
              <a:t>Java/Web </a:t>
            </a:r>
            <a:r>
              <a:rPr lang="ko-KR" altLang="en-US" sz="1167" dirty="0">
                <a:latin typeface="+mn-ea"/>
              </a:rPr>
              <a:t>계층에서 처리 용이</a:t>
            </a:r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1D2A78E4-0B01-61BA-73F1-D1E75E72C757}"/>
              </a:ext>
            </a:extLst>
          </p:cNvPr>
          <p:cNvSpPr/>
          <p:nvPr/>
        </p:nvSpPr>
        <p:spPr>
          <a:xfrm>
            <a:off x="661492" y="3794831"/>
            <a:ext cx="1890217" cy="2362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833"/>
              </a:lnSpc>
            </a:pPr>
            <a:endParaRPr lang="en-US" sz="1458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FC742979-2443-530F-5688-D9B51AFBF883}"/>
              </a:ext>
            </a:extLst>
          </p:cNvPr>
          <p:cNvSpPr/>
          <p:nvPr/>
        </p:nvSpPr>
        <p:spPr>
          <a:xfrm>
            <a:off x="661492" y="4152019"/>
            <a:ext cx="5250061" cy="17420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39" indent="-285739">
              <a:lnSpc>
                <a:spcPts val="1708"/>
              </a:lnSpc>
              <a:buSzPct val="100000"/>
              <a:buChar char="•"/>
            </a:pPr>
            <a:endParaRPr lang="en-US" sz="1167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23D2DE43-B25A-16CF-BAFE-93BBEF1FA3ED}"/>
              </a:ext>
            </a:extLst>
          </p:cNvPr>
          <p:cNvSpPr/>
          <p:nvPr/>
        </p:nvSpPr>
        <p:spPr>
          <a:xfrm>
            <a:off x="6286797" y="1223268"/>
            <a:ext cx="1890217" cy="2362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833"/>
              </a:lnSpc>
            </a:pPr>
            <a:endParaRPr lang="en-US" sz="1458" dirty="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64203526-89FF-43A3-FC03-C61011D08021}"/>
              </a:ext>
            </a:extLst>
          </p:cNvPr>
          <p:cNvSpPr/>
          <p:nvPr/>
        </p:nvSpPr>
        <p:spPr>
          <a:xfrm>
            <a:off x="6286798" y="1580456"/>
            <a:ext cx="5250061" cy="13065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708"/>
              </a:lnSpc>
              <a:buSzPct val="100000"/>
            </a:pPr>
            <a:endParaRPr lang="en-US" sz="1167" dirty="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C8D28137-0034-1D64-80A0-CC69324DE540}"/>
              </a:ext>
            </a:extLst>
          </p:cNvPr>
          <p:cNvSpPr/>
          <p:nvPr/>
        </p:nvSpPr>
        <p:spPr>
          <a:xfrm>
            <a:off x="6286797" y="3007933"/>
            <a:ext cx="1890217" cy="2362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833"/>
              </a:lnSpc>
            </a:pPr>
            <a:endParaRPr lang="en-US" sz="1458" dirty="0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0B39F247-228F-7195-1997-D30096BFDB67}"/>
              </a:ext>
            </a:extLst>
          </p:cNvPr>
          <p:cNvSpPr/>
          <p:nvPr/>
        </p:nvSpPr>
        <p:spPr>
          <a:xfrm>
            <a:off x="6286798" y="3365120"/>
            <a:ext cx="5250061" cy="23953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39" indent="-285739">
              <a:lnSpc>
                <a:spcPts val="1708"/>
              </a:lnSpc>
              <a:buSzPct val="100000"/>
              <a:buChar char="•"/>
            </a:pPr>
            <a:endParaRPr lang="en-US" sz="1167" dirty="0"/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EF250567-A66D-B369-A623-B3B05A5AAAE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20418" y="1032256"/>
            <a:ext cx="6145978" cy="47929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46807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0FC774-8304-6841-B16A-047ACA2C8F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0EF7BF10-55BC-8AF0-EAF6-CFF25F09F645}"/>
              </a:ext>
            </a:extLst>
          </p:cNvPr>
          <p:cNvSpPr/>
          <p:nvPr/>
        </p:nvSpPr>
        <p:spPr>
          <a:xfrm>
            <a:off x="661492" y="542925"/>
            <a:ext cx="3498156" cy="3780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958"/>
              </a:lnSpc>
            </a:pPr>
            <a:r>
              <a:rPr lang="en-US" sz="2375" dirty="0">
                <a:solidFill>
                  <a:srgbClr val="161613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DM Sans Medium" pitchFamily="34" charset="-120"/>
              </a:rPr>
              <a:t>5. 주요 구현 기능 (PL/SQL)</a:t>
            </a:r>
            <a:endParaRPr lang="en-US" sz="2375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9245D8E7-369D-B3B7-D8BE-CAE9497A6001}"/>
              </a:ext>
            </a:extLst>
          </p:cNvPr>
          <p:cNvSpPr/>
          <p:nvPr/>
        </p:nvSpPr>
        <p:spPr>
          <a:xfrm>
            <a:off x="661492" y="3794831"/>
            <a:ext cx="1890217" cy="2362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833"/>
              </a:lnSpc>
            </a:pPr>
            <a:endParaRPr lang="en-US" sz="1458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03C36CEE-AAE8-B3D8-B37F-2A85F304952F}"/>
              </a:ext>
            </a:extLst>
          </p:cNvPr>
          <p:cNvSpPr/>
          <p:nvPr/>
        </p:nvSpPr>
        <p:spPr>
          <a:xfrm>
            <a:off x="661492" y="4152019"/>
            <a:ext cx="5250061" cy="17420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39" indent="-285739">
              <a:lnSpc>
                <a:spcPts val="1708"/>
              </a:lnSpc>
              <a:buSzPct val="100000"/>
              <a:buChar char="•"/>
            </a:pPr>
            <a:endParaRPr lang="en-US" sz="1167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A4A0BBAC-10DF-23A1-0E28-71B61C595C56}"/>
              </a:ext>
            </a:extLst>
          </p:cNvPr>
          <p:cNvSpPr/>
          <p:nvPr/>
        </p:nvSpPr>
        <p:spPr>
          <a:xfrm>
            <a:off x="6286797" y="1223268"/>
            <a:ext cx="1890217" cy="2362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833"/>
              </a:lnSpc>
            </a:pPr>
            <a:endParaRPr lang="en-US" sz="1458" dirty="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BDF08D26-1F33-8108-AA20-1F5AF751E232}"/>
              </a:ext>
            </a:extLst>
          </p:cNvPr>
          <p:cNvSpPr/>
          <p:nvPr/>
        </p:nvSpPr>
        <p:spPr>
          <a:xfrm>
            <a:off x="6286798" y="1580456"/>
            <a:ext cx="5250061" cy="13065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708"/>
              </a:lnSpc>
              <a:buSzPct val="100000"/>
            </a:pPr>
            <a:endParaRPr lang="en-US" sz="1167" dirty="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6EB5FD41-376B-9604-B35C-5F061900CB9F}"/>
              </a:ext>
            </a:extLst>
          </p:cNvPr>
          <p:cNvSpPr/>
          <p:nvPr/>
        </p:nvSpPr>
        <p:spPr>
          <a:xfrm>
            <a:off x="6286797" y="3007933"/>
            <a:ext cx="1890217" cy="2362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833"/>
              </a:lnSpc>
            </a:pPr>
            <a:endParaRPr lang="en-US" sz="1458" dirty="0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59B0163D-341C-14F8-D8E4-8C5E41E7A1A5}"/>
              </a:ext>
            </a:extLst>
          </p:cNvPr>
          <p:cNvSpPr/>
          <p:nvPr/>
        </p:nvSpPr>
        <p:spPr>
          <a:xfrm>
            <a:off x="6286798" y="3365120"/>
            <a:ext cx="5250061" cy="23953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39" indent="-285739">
              <a:lnSpc>
                <a:spcPts val="1708"/>
              </a:lnSpc>
              <a:buSzPct val="100000"/>
              <a:buChar char="•"/>
            </a:pPr>
            <a:endParaRPr lang="en-US" sz="1167" dirty="0"/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DBE94DB4-F378-C8FF-4237-E3247258BA9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12440" y="1050283"/>
            <a:ext cx="5941768" cy="5188386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5B918E7A-EACE-F8E7-74A0-4964A488F127}"/>
              </a:ext>
            </a:extLst>
          </p:cNvPr>
          <p:cNvSpPr txBox="1"/>
          <p:nvPr/>
        </p:nvSpPr>
        <p:spPr>
          <a:xfrm>
            <a:off x="661492" y="1050283"/>
            <a:ext cx="4475703" cy="24271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67" b="1" dirty="0">
                <a:latin typeface="+mn-ea"/>
              </a:rPr>
              <a:t>학생별 상세 출결 및 실시간 출석률 통합 뷰</a:t>
            </a:r>
            <a:r>
              <a:rPr lang="en-US" altLang="ko-KR" sz="1167" b="1" dirty="0">
                <a:latin typeface="+mn-ea"/>
              </a:rPr>
              <a:t>(View)</a:t>
            </a:r>
          </a:p>
          <a:p>
            <a:endParaRPr lang="ko-KR" altLang="en-US" sz="1167" dirty="0">
              <a:latin typeface="+mn-ea"/>
            </a:endParaRPr>
          </a:p>
          <a:p>
            <a:r>
              <a:rPr lang="ko-KR" altLang="en-US" sz="1167" b="1" dirty="0">
                <a:latin typeface="+mn-ea"/>
              </a:rPr>
              <a:t>구현 목적</a:t>
            </a:r>
            <a:endParaRPr lang="ko-KR" altLang="en-US" sz="1167" dirty="0">
              <a:latin typeface="+mn-ea"/>
            </a:endParaRPr>
          </a:p>
          <a:p>
            <a:pPr lvl="1"/>
            <a:r>
              <a:rPr lang="ko-KR" altLang="en-US" sz="1167" dirty="0">
                <a:latin typeface="+mn-ea"/>
              </a:rPr>
              <a:t>복잡한 조인 쿼리를 뷰로 저장하여</a:t>
            </a:r>
            <a:r>
              <a:rPr lang="en-US" altLang="ko-KR" sz="1167" dirty="0">
                <a:latin typeface="+mn-ea"/>
              </a:rPr>
              <a:t>, </a:t>
            </a:r>
            <a:r>
              <a:rPr lang="ko-KR" altLang="en-US" sz="1167" dirty="0">
                <a:latin typeface="+mn-ea"/>
              </a:rPr>
              <a:t>학생 관리 페이지에서 데이터 접근성 향상</a:t>
            </a:r>
          </a:p>
          <a:p>
            <a:r>
              <a:rPr lang="ko-KR" altLang="en-US" sz="1167" b="1" dirty="0">
                <a:latin typeface="+mn-ea"/>
              </a:rPr>
              <a:t>핵심 기술 </a:t>
            </a:r>
            <a:r>
              <a:rPr lang="en-US" altLang="ko-KR" sz="1167" b="1" dirty="0">
                <a:latin typeface="+mn-ea"/>
              </a:rPr>
              <a:t>(Window Function)</a:t>
            </a:r>
            <a:endParaRPr lang="ko-KR" altLang="en-US" sz="1167" dirty="0">
              <a:latin typeface="+mn-ea"/>
            </a:endParaRPr>
          </a:p>
          <a:p>
            <a:pPr lvl="1"/>
            <a:r>
              <a:rPr lang="ko-KR" altLang="en-US" sz="1167" b="1" dirty="0">
                <a:latin typeface="+mn-ea"/>
              </a:rPr>
              <a:t>문제</a:t>
            </a:r>
            <a:r>
              <a:rPr lang="en-US" altLang="ko-KR" sz="1167" b="1" dirty="0">
                <a:latin typeface="+mn-ea"/>
              </a:rPr>
              <a:t>:</a:t>
            </a:r>
            <a:r>
              <a:rPr lang="ko-KR" altLang="en-US" sz="1167" dirty="0">
                <a:latin typeface="+mn-ea"/>
              </a:rPr>
              <a:t> 일반 </a:t>
            </a:r>
            <a:r>
              <a:rPr lang="en-US" altLang="ko-KR" sz="1167" dirty="0">
                <a:latin typeface="+mn-ea"/>
              </a:rPr>
              <a:t>GROUP BY</a:t>
            </a:r>
            <a:r>
              <a:rPr lang="ko-KR" altLang="en-US" sz="1167" dirty="0">
                <a:latin typeface="+mn-ea"/>
              </a:rPr>
              <a:t> 사용 시</a:t>
            </a:r>
            <a:r>
              <a:rPr lang="en-US" altLang="ko-KR" sz="1167" dirty="0">
                <a:latin typeface="+mn-ea"/>
              </a:rPr>
              <a:t>, </a:t>
            </a:r>
            <a:r>
              <a:rPr lang="ko-KR" altLang="en-US" sz="1167" dirty="0">
                <a:latin typeface="+mn-ea"/>
              </a:rPr>
              <a:t>일별 상세 내역</a:t>
            </a:r>
            <a:r>
              <a:rPr lang="en-US" altLang="ko-KR" sz="1167" dirty="0">
                <a:latin typeface="+mn-ea"/>
              </a:rPr>
              <a:t>(</a:t>
            </a:r>
            <a:r>
              <a:rPr lang="ko-KR" altLang="en-US" sz="1167" dirty="0">
                <a:latin typeface="+mn-ea"/>
              </a:rPr>
              <a:t>출석일</a:t>
            </a:r>
            <a:r>
              <a:rPr lang="en-US" altLang="ko-KR" sz="1167" dirty="0">
                <a:latin typeface="+mn-ea"/>
              </a:rPr>
              <a:t>, </a:t>
            </a:r>
            <a:r>
              <a:rPr lang="ko-KR" altLang="en-US" sz="1167" dirty="0">
                <a:latin typeface="+mn-ea"/>
              </a:rPr>
              <a:t>근태종류</a:t>
            </a:r>
            <a:r>
              <a:rPr lang="en-US" altLang="ko-KR" sz="1167" dirty="0">
                <a:latin typeface="+mn-ea"/>
              </a:rPr>
              <a:t>)</a:t>
            </a:r>
            <a:r>
              <a:rPr lang="ko-KR" altLang="en-US" sz="1167" dirty="0">
                <a:latin typeface="+mn-ea"/>
              </a:rPr>
              <a:t>을 출력할 수 없는 한계 발생</a:t>
            </a:r>
          </a:p>
          <a:p>
            <a:pPr lvl="1"/>
            <a:r>
              <a:rPr lang="ko-KR" altLang="en-US" sz="1167" b="1" dirty="0">
                <a:latin typeface="+mn-ea"/>
              </a:rPr>
              <a:t>해결</a:t>
            </a:r>
            <a:r>
              <a:rPr lang="en-US" altLang="ko-KR" sz="1167" b="1" dirty="0">
                <a:latin typeface="+mn-ea"/>
              </a:rPr>
              <a:t>:</a:t>
            </a:r>
            <a:r>
              <a:rPr lang="ko-KR" altLang="en-US" sz="1167" dirty="0">
                <a:latin typeface="+mn-ea"/>
              </a:rPr>
              <a:t> </a:t>
            </a:r>
            <a:r>
              <a:rPr lang="en-US" altLang="ko-KR" sz="1167" dirty="0">
                <a:latin typeface="+mn-ea"/>
              </a:rPr>
              <a:t>AVG(...) OVER (PARTITION BY ...)</a:t>
            </a:r>
            <a:r>
              <a:rPr lang="ko-KR" altLang="en-US" sz="1167" dirty="0">
                <a:latin typeface="+mn-ea"/>
              </a:rPr>
              <a:t> 구문을 사용하여</a:t>
            </a:r>
            <a:r>
              <a:rPr lang="en-US" altLang="ko-KR" sz="1167" dirty="0">
                <a:latin typeface="+mn-ea"/>
              </a:rPr>
              <a:t>, </a:t>
            </a:r>
            <a:r>
              <a:rPr lang="ko-KR" altLang="en-US" sz="1167" b="1" dirty="0">
                <a:latin typeface="+mn-ea"/>
              </a:rPr>
              <a:t>상세 행을 유지하면서도 학생별 출석률을 동시에 계산</a:t>
            </a:r>
            <a:endParaRPr lang="ko-KR" altLang="en-US" sz="1167" dirty="0">
              <a:latin typeface="+mn-ea"/>
            </a:endParaRPr>
          </a:p>
          <a:p>
            <a:r>
              <a:rPr lang="ko-KR" altLang="en-US" sz="1167" b="1" dirty="0">
                <a:latin typeface="+mn-ea"/>
              </a:rPr>
              <a:t>데이터 구조</a:t>
            </a:r>
            <a:endParaRPr lang="ko-KR" altLang="en-US" sz="1167" dirty="0">
              <a:latin typeface="+mn-ea"/>
            </a:endParaRPr>
          </a:p>
          <a:p>
            <a:pPr lvl="1"/>
            <a:r>
              <a:rPr lang="en-US" altLang="ko-KR" sz="1167" dirty="0">
                <a:latin typeface="+mn-ea"/>
              </a:rPr>
              <a:t>6</a:t>
            </a:r>
            <a:r>
              <a:rPr lang="ko-KR" altLang="en-US" sz="1167" dirty="0">
                <a:latin typeface="+mn-ea"/>
              </a:rPr>
              <a:t>개 테이블 조인 </a:t>
            </a:r>
            <a:r>
              <a:rPr lang="en-US" altLang="ko-KR" sz="1167" dirty="0">
                <a:latin typeface="+mn-ea"/>
              </a:rPr>
              <a:t>(STUDENT, USERS, COURSE</a:t>
            </a:r>
            <a:r>
              <a:rPr lang="ko-KR" altLang="en-US" sz="1167" dirty="0">
                <a:latin typeface="+mn-ea"/>
              </a:rPr>
              <a:t> 등</a:t>
            </a:r>
            <a:r>
              <a:rPr lang="en-US" altLang="ko-KR" sz="1167" dirty="0">
                <a:latin typeface="+mn-ea"/>
              </a:rPr>
              <a:t>)</a:t>
            </a:r>
            <a:r>
              <a:rPr lang="ko-KR" altLang="en-US" sz="1167" dirty="0">
                <a:latin typeface="+mn-ea"/>
              </a:rPr>
              <a:t>을 통해 학생 정보</a:t>
            </a:r>
            <a:r>
              <a:rPr lang="en-US" altLang="ko-KR" sz="1167" dirty="0">
                <a:latin typeface="+mn-ea"/>
              </a:rPr>
              <a:t>, </a:t>
            </a:r>
            <a:r>
              <a:rPr lang="ko-KR" altLang="en-US" sz="1167" dirty="0" err="1">
                <a:latin typeface="+mn-ea"/>
              </a:rPr>
              <a:t>과정명</a:t>
            </a:r>
            <a:r>
              <a:rPr lang="en-US" altLang="ko-KR" sz="1167" dirty="0">
                <a:latin typeface="+mn-ea"/>
              </a:rPr>
              <a:t>, </a:t>
            </a:r>
            <a:r>
              <a:rPr lang="ko-KR" altLang="en-US" sz="1167" dirty="0">
                <a:latin typeface="+mn-ea"/>
              </a:rPr>
              <a:t>출석 기록을 통합 제공</a:t>
            </a:r>
          </a:p>
        </p:txBody>
      </p:sp>
    </p:spTree>
    <p:extLst>
      <p:ext uri="{BB962C8B-B14F-4D97-AF65-F5344CB8AC3E}">
        <p14:creationId xmlns:p14="http://schemas.microsoft.com/office/powerpoint/2010/main" val="221546598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70</TotalTime>
  <Words>299</Words>
  <Application>Microsoft Office PowerPoint</Application>
  <PresentationFormat>와이드스크린</PresentationFormat>
  <Paragraphs>34</Paragraphs>
  <Slides>3</Slides>
  <Notes>3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</vt:i4>
      </vt:variant>
    </vt:vector>
  </HeadingPairs>
  <TitlesOfParts>
    <vt:vector size="7" baseType="lpstr">
      <vt:lpstr>Noto Sans KR</vt:lpstr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윤재 황</dc:creator>
  <cp:lastModifiedBy>윤재 황</cp:lastModifiedBy>
  <cp:revision>2</cp:revision>
  <dcterms:created xsi:type="dcterms:W3CDTF">2026-02-10T06:51:21Z</dcterms:created>
  <dcterms:modified xsi:type="dcterms:W3CDTF">2026-02-10T08:01:58Z</dcterms:modified>
</cp:coreProperties>
</file>